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142533244" r:id="rId2"/>
    <p:sldId id="2142533243" r:id="rId3"/>
    <p:sldId id="2142533239" r:id="rId4"/>
    <p:sldId id="2142533249" r:id="rId5"/>
    <p:sldId id="2142533248" r:id="rId6"/>
    <p:sldId id="214253323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807"/>
  </p:normalViewPr>
  <p:slideViewPr>
    <p:cSldViewPr snapToGrid="0">
      <p:cViewPr varScale="1">
        <p:scale>
          <a:sx n="110" d="100"/>
          <a:sy n="110" d="100"/>
        </p:scale>
        <p:origin x="73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FD416-89BD-B643-B586-C02C3A03C13E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66E06E-7B4A-EC46-8681-8F0CA9E2E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6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66E06E-7B4A-EC46-8681-8F0CA9E2ED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717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66E06E-7B4A-EC46-8681-8F0CA9E2ED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87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B69E4-7C24-06F9-DFA3-A9B27B1F8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679A2-A840-E125-8E99-FEC3F34F3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02393-6A26-5BB2-9BDF-118F5ED53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BEF2-C91B-894B-AF8A-A2288CE2B237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637A9-A25D-3C51-FE0D-480487179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EF244-75E6-D2B8-E0A4-EB61A3A8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6D5C7-F531-6C49-AA0E-44E04C0DE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7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96FCC-44DB-E584-3989-800641A1E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9C636-7B94-FADF-C546-5EE3A671A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5F727-F8B5-D18B-DE35-D0C287522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BEF2-C91B-894B-AF8A-A2288CE2B237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DF818-97EE-A64A-D5FE-2DB429B02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EC94E-5ED9-8CCE-5287-5119F469F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6D5C7-F531-6C49-AA0E-44E04C0DE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7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D197D-41B5-679A-F156-57014F652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97D5E-7E8D-7D7B-1D17-D1709405B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FB1D4-72D9-1806-3E69-17BE4F076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BEF2-C91B-894B-AF8A-A2288CE2B237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041AA-93E4-02E3-E55C-D71944B9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EC88A-1318-8896-A344-7F677979F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6D5C7-F531-6C49-AA0E-44E04C0DE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16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865FF-8580-4DA6-6692-184854DB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76AD5-17D1-EDA0-D82E-F13152D80A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4C4FD-37CD-0B8C-D372-29BBDAD40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2E161-8852-3815-968A-C8458D437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BEF2-C91B-894B-AF8A-A2288CE2B237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657E1-1792-B639-F297-4B8351A2E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9D3A0-26AC-CE86-4705-C0FADA21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6D5C7-F531-6C49-AA0E-44E04C0DE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71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A9FFC-31F9-CB3A-5134-CEF822398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B4C6B-2A54-14D9-4C2E-9BEE31D32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515F1-6BDE-4DF5-6A9D-CDCD6A036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8C456C-CECE-92A2-91EC-F36593D06A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66EA03-62FD-7271-6D58-51D2356C2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A16DDC-E3FE-3C14-59C2-E9BE76202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BEF2-C91B-894B-AF8A-A2288CE2B237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B2260-0446-DCB2-B0CA-9625268A8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E0DB37-438D-62E8-7E8A-E931BA918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6D5C7-F531-6C49-AA0E-44E04C0DE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01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32F49-1C5A-7930-5EA0-960E430AA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111149-9DBB-74E2-CC7F-17764EB27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BEF2-C91B-894B-AF8A-A2288CE2B237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12C613-EE69-DF3A-0B30-D41B92D61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FA6E5-B91A-756D-6EA5-D0C16905C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6D5C7-F531-6C49-AA0E-44E04C0DE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21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346E03-4425-9013-713E-91B163549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BEF2-C91B-894B-AF8A-A2288CE2B237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89A62-109B-6BF2-0737-465E95BF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A49B7-DA85-E65D-4CA0-E3856768B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6D5C7-F531-6C49-AA0E-44E04C0DE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72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A7BC3-8364-6FDC-D228-ACB86D6A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83724-E32E-31D9-56F9-764E8290D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703F5-ED2D-DAF3-BD0D-2CA3D57AA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9B007-B425-A236-D8DC-7B580F586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BEF2-C91B-894B-AF8A-A2288CE2B237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3B1A2-77FF-72CE-03F2-026315E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3F88F-CC6B-41BA-A8C2-955A68C4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6D5C7-F531-6C49-AA0E-44E04C0DE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9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7DC9F-0954-EF0E-67DE-78A2AB343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5C3805-3A5A-1689-89D8-276589531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4CB40-FB16-CF2E-F50B-E5E26C7C8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F6AA3-4B7A-6C5D-7A81-107DB1767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BEF2-C91B-894B-AF8A-A2288CE2B237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92C18-4A0D-97F1-24D0-547BF7CC7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A9790-57F1-C8BA-A07D-2CE72985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6D5C7-F531-6C49-AA0E-44E04C0DE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74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CD2F5-0D9E-DF87-1010-6393707DE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4A9A2-D6B6-3F12-8001-27528B982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BFF52-A6F6-E632-5DBC-ACF029676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BEF2-C91B-894B-AF8A-A2288CE2B237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9878A-1ACE-06B8-2BAE-066C4AD7A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69508-B7FC-0E6F-7698-B9C228DFB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6D5C7-F531-6C49-AA0E-44E04C0DE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38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DAEE80-03C1-DFFA-8453-B83682984D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0DE1D-CAD8-D058-42CB-C8179A094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CDCE4-2657-1784-CFC7-1278FBE94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1BEF2-C91B-894B-AF8A-A2288CE2B237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5DADF-DDEB-BDC0-573D-EF24EDB01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8FD52-19A1-DB4A-F493-F196ECBA8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6D5C7-F531-6C49-AA0E-44E04C0DE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4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7B27F7-9008-A3DA-A467-88FDE2572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61530-EC9B-0A1F-D906-A8AFC7CEB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59CEA-747B-57E1-7516-01F0242F1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1BEF2-C91B-894B-AF8A-A2288CE2B237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1E011-4482-9480-FA52-5C287A112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B0963-09C1-9073-907B-5E1B2B2BF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76D5C7-F531-6C49-AA0E-44E04C0DE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07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wscommunityday.ca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6ABA02D-EA53-46E5-3169-B563611361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67" r="-1" b="23483"/>
          <a:stretch>
            <a:fillRect/>
          </a:stretch>
        </p:blipFill>
        <p:spPr>
          <a:xfrm>
            <a:off x="-1" y="10"/>
            <a:ext cx="12228129" cy="4666928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36" name="Freeform: Shape 35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EA71B7-0730-0E5C-61FF-FBE38BE2E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239" y="3985603"/>
            <a:ext cx="5021782" cy="15099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  <a:latin typeface="Century Gothic" panose="020B0502020202020204" pitchFamily="34" charset="0"/>
              </a:rPr>
              <a:t>Sponsorship Package</a:t>
            </a:r>
            <a:r>
              <a:rPr lang="en-US" sz="3600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76B5D9-C9D1-9E79-BCDD-7740EC7CE849}"/>
              </a:ext>
            </a:extLst>
          </p:cNvPr>
          <p:cNvSpPr txBox="1"/>
          <p:nvPr/>
        </p:nvSpPr>
        <p:spPr>
          <a:xfrm>
            <a:off x="768239" y="5133503"/>
            <a:ext cx="6674283" cy="1108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solidFill>
                  <a:schemeClr val="tx2"/>
                </a:solidFill>
                <a:latin typeface="Century Gothic" panose="020B0502020202020204" pitchFamily="34" charset="0"/>
                <a:hlinkClick r:id="rId4"/>
              </a:rPr>
              <a:t>https://awscommunityday.ca</a:t>
            </a:r>
            <a:endParaRPr lang="en-US" dirty="0">
              <a:solidFill>
                <a:schemeClr val="tx2"/>
              </a:solidFill>
              <a:latin typeface="Century Gothic" panose="020B0502020202020204" pitchFamily="34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solidFill>
                  <a:schemeClr val="tx2"/>
                </a:solidFill>
                <a:latin typeface="Century Gothic" panose="020B0502020202020204" pitchFamily="34" charset="0"/>
              </a:rPr>
              <a:t>AWS Community Day Collocated with DevOps for </a:t>
            </a:r>
            <a:r>
              <a:rPr lang="en-US" dirty="0" err="1">
                <a:solidFill>
                  <a:schemeClr val="tx2"/>
                </a:solidFill>
                <a:latin typeface="Century Gothic" panose="020B0502020202020204" pitchFamily="34" charset="0"/>
              </a:rPr>
              <a:t>GenAI</a:t>
            </a:r>
            <a:r>
              <a:rPr lang="en-US" dirty="0">
                <a:solidFill>
                  <a:schemeClr val="tx2"/>
                </a:solidFill>
                <a:latin typeface="Century Gothic" panose="020B0502020202020204" pitchFamily="34" charset="0"/>
              </a:rPr>
              <a:t> Hackathon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solidFill>
                  <a:schemeClr val="tx2"/>
                </a:solidFill>
                <a:latin typeface="Century Gothic" panose="020B0502020202020204" pitchFamily="34" charset="0"/>
              </a:rPr>
              <a:t>August 21</a:t>
            </a:r>
            <a:r>
              <a:rPr lang="en-US" baseline="30000" dirty="0">
                <a:solidFill>
                  <a:schemeClr val="tx2"/>
                </a:solidFill>
                <a:latin typeface="Century Gothic" panose="020B0502020202020204" pitchFamily="34" charset="0"/>
              </a:rPr>
              <a:t>st</a:t>
            </a:r>
            <a:r>
              <a:rPr lang="en-US" dirty="0">
                <a:solidFill>
                  <a:schemeClr val="tx2"/>
                </a:solidFill>
                <a:latin typeface="Century Gothic" panose="020B0502020202020204" pitchFamily="34" charset="0"/>
              </a:rPr>
              <a:t> -22</a:t>
            </a:r>
            <a:r>
              <a:rPr lang="en-US" baseline="30000" dirty="0">
                <a:solidFill>
                  <a:schemeClr val="tx2"/>
                </a:solidFill>
                <a:latin typeface="Century Gothic" panose="020B0502020202020204" pitchFamily="34" charset="0"/>
              </a:rPr>
              <a:t>nd</a:t>
            </a:r>
            <a:r>
              <a:rPr lang="en-US" dirty="0">
                <a:solidFill>
                  <a:schemeClr val="tx2"/>
                </a:solidFill>
                <a:latin typeface="Century Gothic" panose="020B0502020202020204" pitchFamily="34" charset="0"/>
              </a:rPr>
              <a:t> , 2026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solidFill>
                  <a:schemeClr val="tx2"/>
                </a:solidFill>
                <a:latin typeface="Century Gothic" panose="020B0502020202020204" pitchFamily="34" charset="0"/>
              </a:rPr>
              <a:t>Ottawa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024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3D69C8-D443-3DAD-F637-02D10D194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5" y="250515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3600" dirty="0">
                <a:latin typeface="Century Gothic" panose="020B0502020202020204" pitchFamily="34" charset="0"/>
                <a:ea typeface="League Spartan"/>
                <a:cs typeface="League Spartan"/>
                <a:sym typeface="League Spartan"/>
              </a:rPr>
              <a:t>Event Overview</a:t>
            </a:r>
            <a:br>
              <a:rPr lang="en-US" sz="3700" b="1" dirty="0">
                <a:latin typeface="+mj-lt"/>
                <a:ea typeface="League Spartan"/>
                <a:cs typeface="League Spartan"/>
                <a:sym typeface="League Spartan"/>
              </a:rPr>
            </a:b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F5E31-356A-8C91-A1D0-E85F9BACE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492" y="1516284"/>
            <a:ext cx="5152861" cy="4539124"/>
          </a:xfrm>
        </p:spPr>
        <p:txBody>
          <a:bodyPr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CA" sz="18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AWS Community Day Ottawa 2026 + Collocated DevOps for </a:t>
            </a:r>
            <a:r>
              <a:rPr lang="en-CA" sz="1800" b="0" i="0" dirty="0" err="1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GenAI</a:t>
            </a:r>
            <a:r>
              <a:rPr lang="en-CA" sz="18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 Hackathon</a:t>
            </a:r>
          </a:p>
          <a:p>
            <a:pPr marL="0" indent="0" algn="l">
              <a:buNone/>
            </a:pPr>
            <a:endParaRPr lang="en-CA" sz="1800" b="1" i="0" dirty="0">
              <a:solidFill>
                <a:srgbClr val="27251E"/>
              </a:solidFill>
              <a:effectLst/>
              <a:latin typeface="Century Gothic" panose="020B0502020202020204" pitchFamily="34" charset="0"/>
            </a:endParaRPr>
          </a:p>
          <a:p>
            <a:pPr marL="0" indent="0" algn="l">
              <a:buNone/>
            </a:pPr>
            <a:r>
              <a:rPr lang="en-CA" sz="1800" b="1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Event:</a:t>
            </a:r>
            <a:r>
              <a:rPr lang="en-CA" sz="18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 AWS Community Day Ottawa 2026, collocated with DevOps for </a:t>
            </a:r>
            <a:r>
              <a:rPr lang="en-CA" sz="1800" b="0" i="0" dirty="0" err="1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GenAI</a:t>
            </a:r>
            <a:r>
              <a:rPr lang="en-CA" sz="18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 Hackathon.</a:t>
            </a:r>
          </a:p>
          <a:p>
            <a:pPr marL="0" indent="0" algn="l">
              <a:buNone/>
            </a:pPr>
            <a:r>
              <a:rPr lang="en-CA" sz="1800" b="1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Impact: </a:t>
            </a:r>
            <a:r>
              <a:rPr lang="en-CA" sz="180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Biggest Cloud + AI event in Ottawa</a:t>
            </a:r>
            <a:br>
              <a:rPr lang="en-CA" sz="18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</a:br>
            <a:r>
              <a:rPr lang="en-CA" sz="1800" b="1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Location:</a:t>
            </a:r>
            <a:r>
              <a:rPr lang="en-CA" sz="18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 Ottawa, Ontario</a:t>
            </a:r>
          </a:p>
          <a:p>
            <a:pPr marL="0" indent="0" algn="l">
              <a:buNone/>
            </a:pPr>
            <a:br>
              <a:rPr lang="en-CA" sz="18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</a:br>
            <a:r>
              <a:rPr lang="en-CA" sz="1800" b="1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Format:</a:t>
            </a:r>
            <a:r>
              <a:rPr lang="en-CA" sz="18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en-CA" sz="1800" dirty="0">
                <a:solidFill>
                  <a:srgbClr val="27251E"/>
                </a:solidFill>
                <a:latin typeface="Century Gothic" panose="020B0502020202020204" pitchFamily="34" charset="0"/>
              </a:rPr>
              <a:t>C</a:t>
            </a:r>
            <a:r>
              <a:rPr lang="en-CA" sz="18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ommunity conference + two-day hackathon activation. Follow through on website to check the run of the show.</a:t>
            </a:r>
          </a:p>
          <a:p>
            <a:pPr marL="0" indent="0">
              <a:buNone/>
            </a:pPr>
            <a:br>
              <a:rPr lang="en-CA" sz="18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</a:br>
            <a:r>
              <a:rPr lang="en-CA" sz="1800" b="1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Audience:</a:t>
            </a:r>
            <a:r>
              <a:rPr lang="en-CA" sz="18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en-CA" sz="1800" b="1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Expected 250+ high tech attendees</a:t>
            </a:r>
            <a:r>
              <a:rPr lang="en-CA" sz="18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, technical leader, Software development Managers, AWS practitioners, cloud practitioners, DevOps professionals, platform teams, next-gen talent, startups</a:t>
            </a:r>
            <a:endParaRPr lang="en-US" sz="2000" dirty="0"/>
          </a:p>
        </p:txBody>
      </p:sp>
      <p:pic>
        <p:nvPicPr>
          <p:cNvPr id="5" name="Picture 4" descr="Display stock market numbers">
            <a:extLst>
              <a:ext uri="{FF2B5EF4-FFF2-40B4-BE49-F238E27FC236}">
                <a16:creationId xmlns:a16="http://schemas.microsoft.com/office/drawing/2014/main" id="{2E66D028-03F1-C9C4-A3CA-409D3AE2F1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81" r="19718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022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F51269-565E-B5D0-58AE-7754C5F1D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994" y="885985"/>
            <a:ext cx="5875116" cy="1807305"/>
          </a:xfrm>
        </p:spPr>
        <p:txBody>
          <a:bodyPr>
            <a:normAutofit fontScale="90000"/>
          </a:bodyPr>
          <a:lstStyle/>
          <a:p>
            <a:r>
              <a:rPr lang="en-CA" dirty="0">
                <a:latin typeface="Century Gothic" panose="020B0502020202020204" pitchFamily="34" charset="0"/>
              </a:rPr>
              <a:t>Why Sponsor</a:t>
            </a:r>
            <a:br>
              <a:rPr lang="en-CA" sz="3600" dirty="0">
                <a:latin typeface="Century Gothic" panose="020B0502020202020204" pitchFamily="34" charset="0"/>
              </a:rPr>
            </a:br>
            <a:r>
              <a:rPr lang="en-CA" sz="22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AWS Community Day Ottawa 2026 + Collocated DevOps for </a:t>
            </a:r>
            <a:r>
              <a:rPr lang="en-CA" sz="2200" b="0" i="0" dirty="0" err="1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GenAI</a:t>
            </a:r>
            <a:r>
              <a:rPr lang="en-CA" sz="22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 Hackathon</a:t>
            </a:r>
            <a:br>
              <a:rPr lang="en-CA" sz="36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</a:br>
            <a:br>
              <a:rPr lang="en-CA" sz="3600" dirty="0">
                <a:latin typeface="Century Gothic" panose="020B0502020202020204" pitchFamily="34" charset="0"/>
              </a:rPr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8A45A-3AEF-D9E9-39E2-AC0B82DD2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946" y="2247321"/>
            <a:ext cx="5532005" cy="4205170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CA" sz="1800" dirty="0">
                <a:latin typeface="Century Gothic" panose="020B0502020202020204" pitchFamily="34" charset="0"/>
              </a:rPr>
              <a:t>Sponsors benefit from visibility across two complementary experiences: a community conference and a hackathon.</a:t>
            </a:r>
            <a:endParaRPr lang="en-CA" sz="1900" b="1" i="0" dirty="0">
              <a:solidFill>
                <a:srgbClr val="27251E"/>
              </a:solidFill>
              <a:effectLst/>
              <a:latin typeface="Century Gothic" panose="020B0502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1900" b="1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Brand exposure</a:t>
            </a:r>
            <a:r>
              <a:rPr lang="en-CA" sz="19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 to Cloud, AI and DevOps practitioners.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1900" b="1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Technical credibility </a:t>
            </a:r>
            <a:r>
              <a:rPr lang="en-CA" sz="19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through community association.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1900" b="1" dirty="0">
                <a:solidFill>
                  <a:srgbClr val="27251E"/>
                </a:solidFill>
                <a:latin typeface="Century Gothic" panose="020B0502020202020204" pitchFamily="34" charset="0"/>
              </a:rPr>
              <a:t>Lead Generation</a:t>
            </a:r>
            <a:r>
              <a:rPr lang="en-CA" sz="1900" dirty="0">
                <a:solidFill>
                  <a:srgbClr val="27251E"/>
                </a:solidFill>
                <a:latin typeface="Century Gothic" panose="020B0502020202020204" pitchFamily="34" charset="0"/>
              </a:rPr>
              <a:t>: Utilize booths and sponsored activities (e.g., coffee breaks, raffles) for voluntary attendee interaction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1900" b="1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Recruiter access </a:t>
            </a:r>
            <a:r>
              <a:rPr lang="en-CA" sz="19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to builders and emerging talent.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CA" sz="19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Product discovery through demo and hackathon interactions.</a:t>
            </a:r>
          </a:p>
          <a:p>
            <a:pPr marL="0" indent="0" algn="l">
              <a:buNone/>
            </a:pPr>
            <a:endParaRPr lang="en-CA" sz="1900" b="0" i="0" dirty="0">
              <a:solidFill>
                <a:srgbClr val="27251E"/>
              </a:solidFill>
              <a:effectLst/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CF4A69-CCB8-6ACF-CE3A-8B03E4BEFD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93" r="37099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90096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AF465-1866-0A2A-984E-AED8BAB85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5DEB-1954-3384-C253-7FFB612CD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993" y="885985"/>
            <a:ext cx="7040573" cy="1807305"/>
          </a:xfrm>
        </p:spPr>
        <p:txBody>
          <a:bodyPr>
            <a:normAutofit fontScale="90000"/>
          </a:bodyPr>
          <a:lstStyle/>
          <a:p>
            <a:r>
              <a:rPr lang="en-CA" dirty="0">
                <a:latin typeface="Century Gothic" panose="020B0502020202020204" pitchFamily="34" charset="0"/>
              </a:rPr>
              <a:t>Sponsorship Opportunities</a:t>
            </a:r>
            <a:br>
              <a:rPr lang="en-CA" sz="3600" dirty="0">
                <a:latin typeface="Century Gothic" panose="020B0502020202020204" pitchFamily="34" charset="0"/>
              </a:rPr>
            </a:br>
            <a:r>
              <a:rPr lang="en-CA" sz="22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AWS Community Day Ottawa 2026 + Collocated DevOps for </a:t>
            </a:r>
            <a:r>
              <a:rPr lang="en-CA" sz="2200" b="0" i="0" dirty="0" err="1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GenAI</a:t>
            </a:r>
            <a:r>
              <a:rPr lang="en-CA" sz="22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 Hackathon</a:t>
            </a:r>
            <a:br>
              <a:rPr lang="en-CA" sz="36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</a:br>
            <a:br>
              <a:rPr lang="en-CA" sz="3600" dirty="0">
                <a:latin typeface="Century Gothic" panose="020B0502020202020204" pitchFamily="34" charset="0"/>
              </a:rPr>
            </a:br>
            <a:br>
              <a:rPr lang="en-US" sz="3600" dirty="0">
                <a:latin typeface="Century Gothic" panose="020B0502020202020204" pitchFamily="34" charset="0"/>
              </a:rPr>
            </a:br>
            <a:endParaRPr lang="en-US" sz="3600" dirty="0">
              <a:latin typeface="Century Gothic" panose="020B0502020202020204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11F6EF8-8FD2-6C6D-3992-BF3B81017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579" y="1989042"/>
            <a:ext cx="6326530" cy="4515930"/>
          </a:xfrm>
          <a:solidFill>
            <a:schemeClr val="bg2"/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sz="2000" b="1" dirty="0">
                <a:solidFill>
                  <a:srgbClr val="27251E"/>
                </a:solidFill>
                <a:latin typeface="Century Gothic" panose="020B0502020202020204" pitchFamily="34" charset="0"/>
                <a:ea typeface="+mj-ea"/>
                <a:cs typeface="+mj-cs"/>
              </a:rPr>
              <a:t>Tiered Packages</a:t>
            </a:r>
          </a:p>
          <a:p>
            <a:pPr marL="0" indent="0">
              <a:buNone/>
            </a:pPr>
            <a:r>
              <a:rPr lang="en-CA" sz="2000" b="1" dirty="0">
                <a:solidFill>
                  <a:srgbClr val="27251E"/>
                </a:solidFill>
                <a:latin typeface="Century Gothic" panose="020B0502020202020204" pitchFamily="34" charset="0"/>
                <a:ea typeface="+mj-ea"/>
                <a:cs typeface="+mj-cs"/>
              </a:rPr>
              <a:t>Annual Community Sponsor – CAD 10000</a:t>
            </a:r>
          </a:p>
          <a:p>
            <a:pPr marL="0" indent="0">
              <a:buNone/>
            </a:pPr>
            <a:r>
              <a:rPr lang="en-CA" sz="1600" dirty="0">
                <a:solidFill>
                  <a:srgbClr val="27251E"/>
                </a:solidFill>
                <a:latin typeface="Century Gothic" panose="020B0502020202020204" pitchFamily="34" charset="0"/>
              </a:rPr>
              <a:t>Logo on monthly User Group events every month, website and event signage, Largest booth/demo table in premium location, 10 passes, and sponsor recognition during the event. Opening remark opportunity. Mention in every meetup (monthly)</a:t>
            </a:r>
          </a:p>
          <a:p>
            <a:pPr marL="0" indent="0">
              <a:buNone/>
            </a:pPr>
            <a:r>
              <a:rPr lang="en-CA" sz="2000" b="1" dirty="0">
                <a:solidFill>
                  <a:srgbClr val="27251E"/>
                </a:solidFill>
                <a:latin typeface="Century Gothic" panose="020B0502020202020204" pitchFamily="34" charset="0"/>
                <a:ea typeface="+mj-ea"/>
                <a:cs typeface="+mj-cs"/>
              </a:rPr>
              <a:t>Gold Sponsor - CAD 5000</a:t>
            </a:r>
          </a:p>
          <a:p>
            <a:pPr marL="0" indent="0">
              <a:buNone/>
            </a:pPr>
            <a:r>
              <a:rPr lang="en-CA" sz="16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Logo on website and event signage, Large booth/demo table in premium location, 4 passes, and sponsor recognition during the event. One premium speaking slot.</a:t>
            </a:r>
            <a:endParaRPr lang="en-CA" sz="1600" b="1" dirty="0">
              <a:solidFill>
                <a:srgbClr val="27251E"/>
              </a:solidFill>
              <a:latin typeface="Century Gothic" panose="020B0502020202020204" pitchFamily="34" charset="0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CA" sz="2000" b="1" dirty="0">
                <a:solidFill>
                  <a:srgbClr val="27251E"/>
                </a:solidFill>
                <a:latin typeface="Century Gothic" panose="020B0502020202020204" pitchFamily="34" charset="0"/>
                <a:ea typeface="+mj-ea"/>
                <a:cs typeface="+mj-cs"/>
              </a:rPr>
              <a:t>Silver Sponsor - CAD 2000</a:t>
            </a:r>
          </a:p>
          <a:p>
            <a:pPr marL="0" indent="0">
              <a:buNone/>
            </a:pPr>
            <a:r>
              <a:rPr lang="en-CA" sz="16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Logo placement, one small booth/demo table , 2 passes, and mention in sponsor materials. One speaking slot. </a:t>
            </a:r>
            <a:endParaRPr lang="en-CA" sz="1600" b="1" dirty="0">
              <a:solidFill>
                <a:srgbClr val="27251E"/>
              </a:solidFill>
              <a:latin typeface="Century Gothic" panose="020B0502020202020204" pitchFamily="34" charset="0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CA" sz="2000" b="1" dirty="0">
                <a:solidFill>
                  <a:srgbClr val="27251E"/>
                </a:solidFill>
                <a:latin typeface="Century Gothic" panose="020B0502020202020204" pitchFamily="34" charset="0"/>
                <a:ea typeface="+mj-ea"/>
                <a:cs typeface="+mj-cs"/>
              </a:rPr>
              <a:t>Spotlight Sponsor - CAD 1,200</a:t>
            </a:r>
          </a:p>
          <a:p>
            <a:pPr marL="0" indent="0">
              <a:buNone/>
            </a:pPr>
            <a:r>
              <a:rPr lang="en-CA" sz="16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Logo placement, 1 pass and mention in </a:t>
            </a:r>
            <a:r>
              <a:rPr lang="en-CA" sz="1600" dirty="0">
                <a:solidFill>
                  <a:srgbClr val="27251E"/>
                </a:solidFill>
                <a:latin typeface="Century Gothic" panose="020B0502020202020204" pitchFamily="34" charset="0"/>
              </a:rPr>
              <a:t>sponsor materials. One spot as mentor for Hackathon.</a:t>
            </a:r>
          </a:p>
          <a:p>
            <a:pPr marL="0" indent="0">
              <a:buNone/>
            </a:pPr>
            <a:endParaRPr lang="en-CA" sz="2000" b="1" dirty="0">
              <a:solidFill>
                <a:srgbClr val="27251E"/>
              </a:solidFill>
              <a:latin typeface="Century Gothic" panose="020B0502020202020204" pitchFamily="34" charset="0"/>
              <a:ea typeface="+mj-ea"/>
              <a:cs typeface="+mj-cs"/>
            </a:endParaRPr>
          </a:p>
          <a:p>
            <a:pPr marL="0" indent="0">
              <a:buNone/>
            </a:pPr>
            <a:endParaRPr lang="en-CA" sz="1600" dirty="0">
              <a:solidFill>
                <a:srgbClr val="27251E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CA" sz="2000" b="1" dirty="0">
              <a:solidFill>
                <a:srgbClr val="27251E"/>
              </a:solidFill>
              <a:latin typeface="Century Gothic" panose="020B0502020202020204" pitchFamily="34" charset="0"/>
              <a:ea typeface="+mj-ea"/>
              <a:cs typeface="+mj-cs"/>
            </a:endParaRPr>
          </a:p>
          <a:p>
            <a:pPr marL="0" indent="0">
              <a:buNone/>
            </a:pPr>
            <a:endParaRPr lang="en-CA" sz="2000" b="1" dirty="0">
              <a:solidFill>
                <a:srgbClr val="27251E"/>
              </a:solidFill>
              <a:latin typeface="Century Gothic" panose="020B0502020202020204" pitchFamily="34" charset="0"/>
              <a:ea typeface="+mj-ea"/>
              <a:cs typeface="+mj-cs"/>
            </a:endParaRPr>
          </a:p>
          <a:p>
            <a:pPr marL="0" indent="0">
              <a:buNone/>
            </a:pPr>
            <a:endParaRPr lang="en-US" sz="2000" b="1" dirty="0">
              <a:solidFill>
                <a:srgbClr val="27251E"/>
              </a:solidFill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73C869-7D08-B428-8DEA-B131A074EE39}"/>
              </a:ext>
            </a:extLst>
          </p:cNvPr>
          <p:cNvSpPr txBox="1"/>
          <p:nvPr/>
        </p:nvSpPr>
        <p:spPr>
          <a:xfrm>
            <a:off x="7279511" y="1989042"/>
            <a:ext cx="424791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u="none" strike="noStrike" dirty="0">
                <a:effectLst/>
                <a:latin typeface="Century Gothic" panose="020B0502020202020204" pitchFamily="34" charset="0"/>
              </a:rPr>
              <a:t>Targeted Add-ons:</a:t>
            </a:r>
            <a:r>
              <a:rPr lang="en-CA" dirty="0">
                <a:latin typeface="Century Gothic" panose="020B0502020202020204" pitchFamily="34" charset="0"/>
              </a:rPr>
              <a:t> </a:t>
            </a:r>
            <a:r>
              <a:rPr lang="en-CA" sz="1600" dirty="0">
                <a:latin typeface="Century Gothic" panose="020B0502020202020204" pitchFamily="34" charset="0"/>
              </a:rPr>
              <a:t>Special sponsorship for, lunches, evening event, awards and Team Sponsor</a:t>
            </a:r>
          </a:p>
          <a:p>
            <a:pPr marL="285750" indent="-285750">
              <a:buFontTx/>
              <a:buChar char="-"/>
            </a:pPr>
            <a:r>
              <a:rPr lang="en-CA" sz="1600" dirty="0">
                <a:latin typeface="Century Gothic" panose="020B0502020202020204" pitchFamily="34" charset="0"/>
              </a:rPr>
              <a:t>Sponsor Lunch </a:t>
            </a:r>
          </a:p>
          <a:p>
            <a:pPr marL="285750" indent="-285750">
              <a:buFontTx/>
              <a:buChar char="-"/>
            </a:pPr>
            <a:r>
              <a:rPr lang="en-CA" sz="1600" dirty="0">
                <a:latin typeface="Century Gothic" panose="020B0502020202020204" pitchFamily="34" charset="0"/>
              </a:rPr>
              <a:t>Sponsor evening Happy Hours </a:t>
            </a:r>
          </a:p>
          <a:p>
            <a:pPr marL="285750" indent="-285750">
              <a:buFontTx/>
              <a:buChar char="-"/>
            </a:pPr>
            <a:r>
              <a:rPr lang="en-CA" sz="1600" dirty="0">
                <a:latin typeface="Century Gothic" panose="020B0502020202020204" pitchFamily="34" charset="0"/>
              </a:rPr>
              <a:t>Sponsor award for Hackathon</a:t>
            </a:r>
          </a:p>
          <a:p>
            <a:r>
              <a:rPr lang="en-CA" sz="1600" dirty="0">
                <a:latin typeface="Century Gothic" panose="020B0502020202020204" pitchFamily="34" charset="0"/>
              </a:rPr>
              <a:t>       (1000 CAD)</a:t>
            </a:r>
          </a:p>
          <a:p>
            <a:pPr marL="285750" indent="-285750">
              <a:buFontTx/>
              <a:buChar char="-"/>
            </a:pPr>
            <a:r>
              <a:rPr lang="en-US" sz="1600" dirty="0">
                <a:latin typeface="Century Gothic" panose="020B0502020202020204" pitchFamily="34" charset="0"/>
              </a:rPr>
              <a:t>Sponsor an enterprise team </a:t>
            </a:r>
          </a:p>
          <a:p>
            <a:r>
              <a:rPr lang="en-US" sz="1600" dirty="0">
                <a:latin typeface="Century Gothic" panose="020B0502020202020204" pitchFamily="34" charset="0"/>
              </a:rPr>
              <a:t>       (500 CAD)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2BA1DF-9D9C-3236-700F-2BD84B50546C}"/>
              </a:ext>
            </a:extLst>
          </p:cNvPr>
          <p:cNvSpPr txBox="1"/>
          <p:nvPr/>
        </p:nvSpPr>
        <p:spPr>
          <a:xfrm>
            <a:off x="7248646" y="4868080"/>
            <a:ext cx="4800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latin typeface="Century Gothic" panose="020B0502020202020204" pitchFamily="34" charset="0"/>
              </a:rPr>
              <a:t>In-Kind Sponsorship </a:t>
            </a:r>
            <a:r>
              <a:rPr lang="en-CA" b="1" u="none" strike="noStrike" dirty="0">
                <a:effectLst/>
                <a:latin typeface="Century Gothic" panose="020B0502020202020204" pitchFamily="34" charset="0"/>
              </a:rPr>
              <a:t>Opportunities:</a:t>
            </a:r>
          </a:p>
          <a:p>
            <a:r>
              <a:rPr lang="en-CA" dirty="0">
                <a:latin typeface="Century Gothic" panose="020B0502020202020204" pitchFamily="34" charset="0"/>
              </a:rPr>
              <a:t>Talk to us to be our partner, coffee/snacks, gift cards, books, subscriptions, credits photography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683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B8303C76-F2CE-5B36-CC45-4F29E46C2A4E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 l="5473" r="15216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1E5BA-318B-82C7-5D8E-D113D50B4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815" y="2723568"/>
            <a:ext cx="4375231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Century Gothic" panose="020B0502020202020204" pitchFamily="34" charset="0"/>
              </a:rPr>
              <a:t>Have a Question. Send us an email </a:t>
            </a:r>
          </a:p>
          <a:p>
            <a:pPr marL="0" indent="0">
              <a:buNone/>
            </a:pPr>
            <a:r>
              <a:rPr lang="en-US" sz="1400" b="1" dirty="0" err="1">
                <a:latin typeface="Century Gothic" panose="020B0502020202020204" pitchFamily="34" charset="0"/>
              </a:rPr>
              <a:t>info@capitalcarbonconsulting.com</a:t>
            </a:r>
            <a:endParaRPr lang="en-US" sz="14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228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AA3A7-2E76-0FA9-19CA-41C49FEF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yellow figures and a red figure on the other side">
            <a:extLst>
              <a:ext uri="{FF2B5EF4-FFF2-40B4-BE49-F238E27FC236}">
                <a16:creationId xmlns:a16="http://schemas.microsoft.com/office/drawing/2014/main" id="{8AC3D849-FC55-31A1-D05B-EA091EA2A637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 l="5884" r="-1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0BEB6-9094-9813-9AF7-525C8429C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2391" y="2503649"/>
            <a:ext cx="3822189" cy="37427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Build with the community. Reach the builders shaping cloud and AI in Canada.</a:t>
            </a:r>
            <a:br>
              <a:rPr lang="en-US" sz="2000" dirty="0">
                <a:latin typeface="Century Gothic"/>
              </a:rPr>
            </a:br>
            <a:endParaRPr lang="en-US" sz="2000" dirty="0">
              <a:latin typeface="Century Gothic"/>
            </a:endParaRPr>
          </a:p>
          <a:p>
            <a:pPr marL="0" indent="0">
              <a:buNone/>
            </a:pPr>
            <a:r>
              <a:rPr lang="en-CA" sz="20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AWS Community Day Ottawa 2026 + Collocated DevOps for </a:t>
            </a:r>
            <a:r>
              <a:rPr lang="en-CA" sz="2000" b="0" i="0" dirty="0" err="1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GenAI</a:t>
            </a:r>
            <a:r>
              <a:rPr lang="en-CA" sz="20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  <a:t> Hackathon</a:t>
            </a:r>
            <a:br>
              <a:rPr lang="en-CA" sz="3200" b="0" i="0" dirty="0">
                <a:solidFill>
                  <a:srgbClr val="27251E"/>
                </a:solidFill>
                <a:effectLst/>
                <a:latin typeface="Century Gothic" panose="020B0502020202020204" pitchFamily="34" charset="0"/>
              </a:rPr>
            </a:br>
            <a:br>
              <a:rPr lang="en-CA" sz="3200" dirty="0">
                <a:latin typeface="Century Gothic" panose="020B0502020202020204" pitchFamily="34" charset="0"/>
              </a:rPr>
            </a:br>
            <a:br>
              <a:rPr lang="en-US" sz="3200" dirty="0">
                <a:latin typeface="Century Gothic" panose="020B0502020202020204" pitchFamily="34" charset="0"/>
              </a:rPr>
            </a:br>
            <a:r>
              <a:rPr lang="en-US" sz="2000" dirty="0">
                <a:latin typeface="Century Gothic"/>
              </a:rPr>
              <a:t> 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74174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20002</TotalTime>
  <Words>478</Words>
  <Application>Microsoft Macintosh PowerPoint</Application>
  <PresentationFormat>Widescreen</PresentationFormat>
  <Paragraphs>47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Century Gothic</vt:lpstr>
      <vt:lpstr>Office Theme</vt:lpstr>
      <vt:lpstr>Sponsorship Package </vt:lpstr>
      <vt:lpstr>Event Overview </vt:lpstr>
      <vt:lpstr>Why Sponsor AWS Community Day Ottawa 2026 + Collocated DevOps for GenAI Hackathon   </vt:lpstr>
      <vt:lpstr>Sponsorship Opportunities AWS Community Day Ottawa 2026 + Collocated DevOps for GenAI Hackathon 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bajpai.garima@gmail.com</dc:creator>
  <cp:lastModifiedBy>Garima Bajpai</cp:lastModifiedBy>
  <cp:revision>17</cp:revision>
  <dcterms:created xsi:type="dcterms:W3CDTF">2024-05-19T18:33:09Z</dcterms:created>
  <dcterms:modified xsi:type="dcterms:W3CDTF">2026-05-01T22:21:03Z</dcterms:modified>
</cp:coreProperties>
</file>